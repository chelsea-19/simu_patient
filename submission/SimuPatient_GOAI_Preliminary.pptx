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624cf17c68449b" /><Relationship Type="http://schemas.openxmlformats.org/officeDocument/2006/relationships/extended-properties" Target="/docProps/app.xml" Id="R0746263d2a5e402d" /><Relationship Type="http://schemas.openxmlformats.org/officeDocument/2006/relationships/officeDocument" Target="/ppt/presentation.xml" Id="R27e57816cc344b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d8eeb337e14217"/>
  </p:sldMasterIdLst>
  <p:notesMasterIdLst>
    <p:notesMasterId xmlns:r="http://schemas.openxmlformats.org/officeDocument/2006/relationships" r:id="Rdccbbe07abd64fcf"/>
  </p:notesMasterIdLst>
  <p:sldIdLst>
    <p:sldId xmlns:r="http://schemas.openxmlformats.org/officeDocument/2006/relationships" id="256" r:id="R0ccb8012e75b4e9b"/>
    <p:sldId xmlns:r="http://schemas.openxmlformats.org/officeDocument/2006/relationships" id="257" r:id="R626c12935d9a4043"/>
    <p:sldId xmlns:r="http://schemas.openxmlformats.org/officeDocument/2006/relationships" id="258" r:id="Rceb5c2d074ff4bee"/>
    <p:sldId xmlns:r="http://schemas.openxmlformats.org/officeDocument/2006/relationships" id="259" r:id="R5aa01d4b9a144222"/>
    <p:sldId xmlns:r="http://schemas.openxmlformats.org/officeDocument/2006/relationships" id="260" r:id="R2b1bb51e70ce45d4"/>
    <p:sldId xmlns:r="http://schemas.openxmlformats.org/officeDocument/2006/relationships" id="261" r:id="Rc17a7cfb9602483d"/>
    <p:sldId xmlns:r="http://schemas.openxmlformats.org/officeDocument/2006/relationships" id="262" r:id="R8a5cc7f732934371"/>
    <p:sldId xmlns:r="http://schemas.openxmlformats.org/officeDocument/2006/relationships" id="263" r:id="R5c74f0d67f694ec8"/>
    <p:sldId xmlns:r="http://schemas.openxmlformats.org/officeDocument/2006/relationships" id="264" r:id="R2500e4a4615148ee"/>
    <p:sldId xmlns:r="http://schemas.openxmlformats.org/officeDocument/2006/relationships" id="265" r:id="Rcca4fde09496472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55fe47848844f3" /><Relationship Type="http://schemas.openxmlformats.org/officeDocument/2006/relationships/slideMaster" Target="/ppt/slideMasters/slideMaster1.xml" Id="R42d8eeb337e14217" /><Relationship Type="http://schemas.openxmlformats.org/officeDocument/2006/relationships/notesMaster" Target="/ppt/notesMasters/notesMaster1.xml" Id="Rdccbbe07abd64fcf" /><Relationship Type="http://schemas.openxmlformats.org/officeDocument/2006/relationships/presProps" Target="/ppt/presProps.xml" Id="R7096fdb50f4547a4" /><Relationship Type="http://schemas.openxmlformats.org/officeDocument/2006/relationships/tableStyles" Target="/ppt/tableStyles.xml" Id="R58b0b636a9734d27" /><Relationship Type="http://schemas.openxmlformats.org/officeDocument/2006/relationships/slide" Target="/ppt/slides/slide1.xml" Id="R0ccb8012e75b4e9b" /><Relationship Type="http://schemas.openxmlformats.org/officeDocument/2006/relationships/slide" Target="/ppt/slides/slide2.xml" Id="R626c12935d9a4043" /><Relationship Type="http://schemas.openxmlformats.org/officeDocument/2006/relationships/slide" Target="/ppt/slides/slide3.xml" Id="Rceb5c2d074ff4bee" /><Relationship Type="http://schemas.openxmlformats.org/officeDocument/2006/relationships/slide" Target="/ppt/slides/slide4.xml" Id="R5aa01d4b9a144222" /><Relationship Type="http://schemas.openxmlformats.org/officeDocument/2006/relationships/slide" Target="/ppt/slides/slide5.xml" Id="R2b1bb51e70ce45d4" /><Relationship Type="http://schemas.openxmlformats.org/officeDocument/2006/relationships/slide" Target="/ppt/slides/slide6.xml" Id="Rc17a7cfb9602483d" /><Relationship Type="http://schemas.openxmlformats.org/officeDocument/2006/relationships/slide" Target="/ppt/slides/slide7.xml" Id="R8a5cc7f732934371" /><Relationship Type="http://schemas.openxmlformats.org/officeDocument/2006/relationships/slide" Target="/ppt/slides/slide8.xml" Id="R5c74f0d67f694ec8" /><Relationship Type="http://schemas.openxmlformats.org/officeDocument/2006/relationships/slide" Target="/ppt/slides/slide9.xml" Id="R2500e4a4615148ee" /><Relationship Type="http://schemas.openxmlformats.org/officeDocument/2006/relationships/slide" Target="/ppt/slides/slide10.xml" Id="Rcca4fde09496472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a0584dc1be44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f2d42eb2541eb" /><Relationship Type="http://schemas.openxmlformats.org/officeDocument/2006/relationships/notesMaster" Target="/ppt/notesMasters/notesMaster1.xml" Id="R03a8b42e156c4f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7366fcb44c4996" /><Relationship Type="http://schemas.openxmlformats.org/officeDocument/2006/relationships/notesMaster" Target="/ppt/notesMasters/notesMaster1.xml" Id="R7936c657773b4f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a14d92214f4607" /><Relationship Type="http://schemas.openxmlformats.org/officeDocument/2006/relationships/notesMaster" Target="/ppt/notesMasters/notesMaster1.xml" Id="R3daadefdae5449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66dfd7e6e84393" /><Relationship Type="http://schemas.openxmlformats.org/officeDocument/2006/relationships/notesMaster" Target="/ppt/notesMasters/notesMaster1.xml" Id="R34201978237a4d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854d38342475b" /><Relationship Type="http://schemas.openxmlformats.org/officeDocument/2006/relationships/notesMaster" Target="/ppt/notesMasters/notesMaster1.xml" Id="R5805f3bc68004f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2fea94d5e14d66" /><Relationship Type="http://schemas.openxmlformats.org/officeDocument/2006/relationships/notesMaster" Target="/ppt/notesMasters/notesMaster1.xml" Id="Rc4370855d1b34a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f4e934c8e92485b" /><Relationship Type="http://schemas.openxmlformats.org/officeDocument/2006/relationships/notesMaster" Target="/ppt/notesMasters/notesMaster1.xml" Id="R1f228fb4b62b46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a0e50ea55245ef" /><Relationship Type="http://schemas.openxmlformats.org/officeDocument/2006/relationships/notesMaster" Target="/ppt/notesMasters/notesMaster1.xml" Id="R4d69e160e4904a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cde54c241a44ad" /><Relationship Type="http://schemas.openxmlformats.org/officeDocument/2006/relationships/notesMaster" Target="/ppt/notesMasters/notesMaster1.xml" Id="R24ea89afd4a3472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97734022684dd8" /><Relationship Type="http://schemas.openxmlformats.org/officeDocument/2006/relationships/notesMaster" Target="/ppt/notesMasters/notesMaster1.xml" Id="R94293b0d676f41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reports/phase_6_report.md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docs/teacher_workflow.md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docs/tool_interface.md</a:t>
            </a:r>
          </a:p>
          <a:p xmlns:a="http://schemas.openxmlformats.org/drawingml/2006/main">
            <a:r>
              <a:t>- docs/state_separation.md</a:t>
            </a:r>
          </a:p>
          <a:p xmlns:a="http://schemas.openxmlformats.org/drawingml/2006/main">
            <a:r>
              <a:t>- assets/demo_traces/14_no_api_full_loop.json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assets/screenshots/04_safety_block.png</a:t>
            </a:r>
          </a:p>
          <a:p xmlns:a="http://schemas.openxmlformats.org/drawingml/2006/main">
            <a:r>
              <a:t>- assets/demo_traces/07_unsafe_home.json</a:t>
            </a:r>
          </a:p>
          <a:p xmlns:a="http://schemas.openxmlformats.org/drawingml/2006/main">
            <a:r>
              <a:t>- assets/demo_traces/08_block_then_correct.json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docs/tool_interface.md</a:t>
            </a:r>
          </a:p>
          <a:p xmlns:a="http://schemas.openxmlformats.org/drawingml/2006/main">
            <a:r>
              <a:t>- docs/case_schema.md</a:t>
            </a:r>
          </a:p>
          <a:p xmlns:a="http://schemas.openxmlformats.org/drawingml/2006/main">
            <a:r>
              <a:t>- reports/phase_5_report.md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assets/screenshots/05_learning_diagnosis.png</a:t>
            </a:r>
          </a:p>
          <a:p xmlns:a="http://schemas.openxmlformats.org/drawingml/2006/main">
            <a:r>
              <a:t>- assets/screenshots/06_personalized_retry.png</a:t>
            </a:r>
          </a:p>
          <a:p xmlns:a="http://schemas.openxmlformats.org/drawingml/2006/main">
            <a:r>
              <a:t>- assets/screenshots/07_two_round_comparison.png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docs/tool_interface.md</a:t>
            </a:r>
          </a:p>
          <a:p xmlns:a="http://schemas.openxmlformats.org/drawingml/2006/main">
            <a:r>
              <a:t>- case_templates/chest_pain_001.yaml</a:t>
            </a:r>
          </a:p>
          <a:p xmlns:a="http://schemas.openxmlformats.org/drawingml/2006/main">
            <a:r>
              <a:t>- assets/demo_traces/01_correct_complete.json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evaluation/goai_metrics.json</a:t>
            </a:r>
          </a:p>
          <a:p xmlns:a="http://schemas.openxmlformats.org/drawingml/2006/main">
            <a:r>
              <a:t>- evaluation/goai_evaluation_report.md</a:t>
            </a:r>
          </a:p>
          <a:p xmlns:a="http://schemas.openxmlformats.org/drawingml/2006/main">
            <a:r>
              <a:t>- experiments/results/osce_eval.json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docs/state_separation.md</a:t>
            </a:r>
          </a:p>
          <a:p xmlns:a="http://schemas.openxmlformats.org/drawingml/2006/main">
            <a:r>
              <a:t>- docs/deployment.md</a:t>
            </a:r>
          </a:p>
          <a:p xmlns:a="http://schemas.openxmlformats.org/drawingml/2006/main">
            <a:r>
              <a:t>- LICENSE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docs/case_authoring_guide.md</a:t>
            </a:r>
          </a:p>
          <a:p xmlns:a="http://schemas.openxmlformats.org/drawingml/2006/main">
            <a:r>
              <a:t>- docs/case_schema.md</a:t>
            </a:r>
          </a:p>
          <a:p xmlns:a="http://schemas.openxmlformats.org/drawingml/2006/main">
            <a:r>
              <a:t>- docs/tool_interface.md</a:t>
            </a:r>
          </a:p>
          <a:p xmlns:a="http://schemas.openxmlformats.org/drawingml/2006/main">
            <a:r>
              <a:t>- evaluation/goai_evaluation_report.md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5e4571c4b4a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d26f86920e4a20" /><Relationship Type="http://schemas.openxmlformats.org/officeDocument/2006/relationships/slideLayout" Target="/ppt/slideLayouts/slideLayout1.xml" Id="Re9ed2df1b0f94a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d2df1b0f94a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09a4e2296340fd" /><Relationship Type="http://schemas.openxmlformats.org/officeDocument/2006/relationships/notesSlide" Target="/ppt/notesSlides/notesSlide1.xml" Id="R6605a2174d9b43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68978c25c4a8b" /><Relationship Type="http://schemas.openxmlformats.org/officeDocument/2006/relationships/notesSlide" Target="/ppt/notesSlides/notesSlide2.xml" Id="R5ebb9010d9974f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4de3571b954ee3" /><Relationship Type="http://schemas.openxmlformats.org/officeDocument/2006/relationships/notesSlide" Target="/ppt/notesSlides/notesSlide3.xml" Id="R56738350b6304e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a82a59e44e36" /><Relationship Type="http://schemas.openxmlformats.org/officeDocument/2006/relationships/image" Target="/ppt/media/image.png" Id="R8751c6d862574004" /><Relationship Type="http://schemas.openxmlformats.org/officeDocument/2006/relationships/notesSlide" Target="/ppt/notesSlides/notesSlide4.xml" Id="R12717fcb90fe44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89b92872c2441a" /><Relationship Type="http://schemas.openxmlformats.org/officeDocument/2006/relationships/notesSlide" Target="/ppt/notesSlides/notesSlide5.xml" Id="R6014c5d160a845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24230c3f84216" /><Relationship Type="http://schemas.openxmlformats.org/officeDocument/2006/relationships/chart" Target="/ppt/slides/charts/chart1.xml" Id="R9e2b3ad6f32044c1" /><Relationship Type="http://schemas.openxmlformats.org/officeDocument/2006/relationships/notesSlide" Target="/ppt/notesSlides/notesSlide6.xml" Id="Re3f334f1ce7844b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98dada1c4644b6" /><Relationship Type="http://schemas.openxmlformats.org/officeDocument/2006/relationships/notesSlide" Target="/ppt/notesSlides/notesSlide7.xml" Id="Ref7754f062ca46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85afe056a4369" /><Relationship Type="http://schemas.openxmlformats.org/officeDocument/2006/relationships/notesSlide" Target="/ppt/notesSlides/notesSlide8.xml" Id="R4b3a611af69e40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bd73241bb479e" /><Relationship Type="http://schemas.openxmlformats.org/officeDocument/2006/relationships/notesSlide" Target="/ppt/notesSlides/notesSlide9.xml" Id="R5610bd6efee140d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5ff8b23544b0f" /><Relationship Type="http://schemas.openxmlformats.org/officeDocument/2006/relationships/notesSlide" Target="/ppt/notesSlides/notesSlide10.xml" Id="R5f0a7a19d6f0454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第一次</c:v>
          </c:tx>
          <c:spPr>
            <a:solidFill xmlns:a="http://schemas.openxmlformats.org/drawingml/2006/main">
              <a:srgbClr val="B8BCC4"/>
            </a:solidFill>
          </c:spPr>
          <c:cat>
            <c:strLit>
              <c:ptCount val="9"/>
              <c:pt idx="0">
                <c:v>病史</c:v>
              </c:pt>
              <c:pt idx="1">
                <c:v>沟通</c:v>
              </c:pt>
              <c:pt idx="2">
                <c:v>推理</c:v>
              </c:pt>
              <c:pt idx="3">
                <c:v>红旗</c:v>
              </c:pt>
              <c:pt idx="4">
                <c:v>检查</c:v>
              </c:pt>
              <c:pt idx="5">
                <c:v>安全</c:v>
              </c:pt>
              <c:pt idx="6">
                <c:v>共情</c:v>
              </c:pt>
              <c:pt idx="7">
                <c:v>收尾</c:v>
              </c:pt>
              <c:pt idx="8">
                <c:v>效率</c:v>
              </c:pt>
            </c:strLit>
          </c:cat>
          <c:val>
            <c:numLit>
              <c:formatCode>General</c:formatCode>
              <c:ptCount val="9"/>
              <c:pt idx="0">
                <c:v>33</c:v>
              </c:pt>
              <c:pt idx="1">
                <c:v>62</c:v>
              </c:pt>
              <c:pt idx="2">
                <c:v>100</c:v>
              </c:pt>
              <c:pt idx="3">
                <c:v>70</c:v>
              </c:pt>
              <c:pt idx="4">
                <c:v>100</c:v>
              </c:pt>
              <c:pt idx="5">
                <c:v>100</c:v>
              </c:pt>
              <c:pt idx="6">
                <c:v>58</c:v>
              </c:pt>
              <c:pt idx="7">
                <c:v>100</c:v>
              </c:pt>
              <c:pt idx="8">
                <c:v>100</c:v>
              </c:pt>
            </c:numLit>
          </c:val>
        </c:ser>
        <c:ser>
          <c:idx val="1"/>
          <c:order val="1"/>
          <c:tx>
            <c:v>Focused Retry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9"/>
              <c:pt idx="0">
                <c:v>病史</c:v>
              </c:pt>
              <c:pt idx="1">
                <c:v>沟通</c:v>
              </c:pt>
              <c:pt idx="2">
                <c:v>推理</c:v>
              </c:pt>
              <c:pt idx="3">
                <c:v>红旗</c:v>
              </c:pt>
              <c:pt idx="4">
                <c:v>检查</c:v>
              </c:pt>
              <c:pt idx="5">
                <c:v>安全</c:v>
              </c:pt>
              <c:pt idx="6">
                <c:v>共情</c:v>
              </c:pt>
              <c:pt idx="7">
                <c:v>收尾</c:v>
              </c:pt>
              <c:pt idx="8">
                <c:v>效率</c:v>
              </c:pt>
            </c:strLit>
          </c:cat>
          <c:val>
            <c:numLit>
              <c:formatCode>General</c:formatCode>
              <c:ptCount val="9"/>
              <c:pt idx="0">
                <c:v>100</c:v>
              </c:pt>
              <c:pt idx="1">
                <c:v>62</c:v>
              </c:pt>
              <c:pt idx="2">
                <c:v>100</c:v>
              </c:pt>
              <c:pt idx="3">
                <c:v>100</c:v>
              </c:pt>
              <c:pt idx="4">
                <c:v>100</c:v>
              </c:pt>
              <c:pt idx="5">
                <c:v>100</c:v>
              </c:pt>
              <c:pt idx="6">
                <c:v>73</c:v>
              </c:pt>
              <c:pt idx="7">
                <c:v>100</c:v>
              </c:pt>
              <c:pt idx="8">
                <c:v>100</c:v>
              </c:pt>
            </c:numLit>
          </c:val>
        </c:ser>
        <c:gapWidth val="3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F6672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F6672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C861A3D-F8EF-43A0-B545-3C6AC8D7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GOAI 2026 Boundless Agents | AI+教育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FAB841D-D68D-4781-A814-2E4B158E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SimuPatient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C942581-79CF-4D08-942D-A2851F3C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自适应临床推理与 OSCE 训练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9FD68-2310-45F5-BF59-31CA7950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239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value">
            <a:extLst xmlns:a="http://schemas.openxmlformats.org/drawingml/2006/main">
              <a:ext uri="{FF2B5EF4-FFF2-40B4-BE49-F238E27FC236}">
                <a16:creationId xmlns:a16="http://schemas.microsoft.com/office/drawing/2014/main" id="{F5E702D2-C9DB-4B75-AA0D-D7716EBB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05300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从一次虚拟问诊，到可追踪、可诊断、可复训的个性化临床学习闭环。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B392F-8620-4DBC-AF59-DA18E52C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形成性教学反馈 | MockProvider 无 API 可演示 | MIT License</a:t>
            </a:r>
          </a:p>
        </p:txBody>
      </p:sp>
    </p:spTree>
    <p:extLst>
      <p:ext uri="{BB962C8B-B14F-4D97-AF65-F5344CB8AC3E}">
        <p14:creationId xmlns:p14="http://schemas.microsoft.com/office/powerpoint/2010/main" val="7159582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BB9895F-A4ED-42A6-9A42-2C7A33D4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训练缺口不在“答案”，而在过程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B42D7ED7-44A0-49D5-A266-69ACC57F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面向医学生、医学相关专业学生、OSCE 学习者与医学教师</a:t>
            </a:r>
          </a:p>
        </p:txBody>
      </p:sp>
      <p:sp>
        <p:nvSpPr>
          <p:cNvPr id="3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D69028BC-4110-4F0B-8D1C-9E5336AE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6EBE908-29B1-4B5A-B281-FA675BD4F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B8D78-E3D4-41A0-B2B2-1E766951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学习者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F4B74-C24E-4719-B5FC-12ADC536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381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真人标准化患者成本高，日常练习机会有限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普通 AI 对话可能漂移病例事实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只给答案，无法诊断问诊、检查和处置过程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薄弱点出现后，缺少可重复的针对性训练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A5DE8-9B75-4B44-885D-96E186D6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762125"/>
            <a:ext cx="538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教师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23B02-DA23-490A-8561-CFE0B965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324100"/>
            <a:ext cx="5381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难以低成本查看完整临床思维路径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总分不能解释安全关键遗漏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病例内容、隐藏规则和评分证据缺少统一模板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需要轻量备课、复盘和报告导出工具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012D80-D632-44B6-B8CB-8C450DBAC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23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AE25D-3F42-42A3-9067-DAF260BA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3880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产品边界：结构化临床技能与 OSCE 形成性训练，不是通用医学作业答案生成器。</a:t>
            </a:r>
          </a:p>
        </p:txBody>
      </p:sp>
    </p:spTree>
    <p:extLst>
      <p:ext uri="{BB962C8B-B14F-4D97-AF65-F5344CB8AC3E}">
        <p14:creationId xmlns:p14="http://schemas.microsoft.com/office/powerpoint/2010/main" val="13935098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261F1177-3F9F-4BCA-8B79-C49DEF937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八个动作形成可验证的教育闭环</a:t>
            </a:r>
          </a:p>
        </p:txBody>
      </p:sp>
      <p:sp>
        <p:nvSpPr>
          <p:cNvPr id="2" name="slide-3-subtitle">
            <a:extLst xmlns:a="http://schemas.openxmlformats.org/drawingml/2006/main">
              <a:ext uri="{FF2B5EF4-FFF2-40B4-BE49-F238E27FC236}">
                <a16:creationId xmlns:a16="http://schemas.microsoft.com/office/drawing/2014/main" id="{CE4F8A75-42F4-4136-8FE6-74FE7CF9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每一步进入状态机与 Action Trace，而不是只保留聊天文本</a:t>
            </a:r>
          </a:p>
        </p:txBody>
      </p:sp>
      <p:sp>
        <p:nvSpPr>
          <p:cNvPr id="3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78F67425-EC3A-472F-9BC7-6BCD44F10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7E73BCD2-6AED-43B5-9576-85851D65B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70" name=""/>
          <p:cNvCxnSpPr/>
          <p:nvPr/>
        </p:nvCxnSpPr>
        <p:spPr>
          <a:xfrm xmlns:a="http://schemas.openxmlformats.org/drawingml/2006/main">
            <a:off x="3009900" y="2466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1" name=""/>
          <p:cNvCxnSpPr/>
          <p:nvPr/>
        </p:nvCxnSpPr>
        <p:spPr>
          <a:xfrm xmlns:a="http://schemas.openxmlformats.org/drawingml/2006/main">
            <a:off x="5943600" y="2466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2" name=""/>
          <p:cNvCxnSpPr/>
          <p:nvPr/>
        </p:nvCxnSpPr>
        <p:spPr>
          <a:xfrm xmlns:a="http://schemas.openxmlformats.org/drawingml/2006/main">
            <a:off x="8877300" y="2466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3" name=""/>
          <p:cNvCxnSpPr/>
          <p:nvPr/>
        </p:nvCxnSpPr>
        <p:spPr>
          <a:xfrm xmlns:a="http://schemas.openxmlformats.org/drawingml/2006/main">
            <a:off x="10515600" y="3267075"/>
            <a:ext cx="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4" name=""/>
          <p:cNvCxnSpPr/>
          <p:nvPr/>
        </p:nvCxnSpPr>
        <p:spPr>
          <a:xfrm xmlns:a="http://schemas.openxmlformats.org/drawingml/2006/main">
            <a:off x="8877300" y="4752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5" name=""/>
          <p:cNvCxnSpPr/>
          <p:nvPr/>
        </p:nvCxnSpPr>
        <p:spPr>
          <a:xfrm xmlns:a="http://schemas.openxmlformats.org/drawingml/2006/main">
            <a:off x="5943600" y="4752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76" name=""/>
          <p:cNvCxnSpPr/>
          <p:nvPr/>
        </p:nvCxnSpPr>
        <p:spPr>
          <a:xfrm xmlns:a="http://schemas.openxmlformats.org/drawingml/2006/main">
            <a:off x="3009900" y="4752975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2" name="step-1">
            <a:extLst xmlns:a="http://schemas.openxmlformats.org/drawingml/2006/main">
              <a:ext uri="{FF2B5EF4-FFF2-40B4-BE49-F238E27FC236}">
                <a16:creationId xmlns:a16="http://schemas.microsoft.com/office/drawing/2014/main" id="{9AF901BF-D5D7-42B8-A987-0001D8D7E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62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FE289-CACE-428B-BE92-D622C84D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F80611-83BB-4B1D-9103-C938EA52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训练目标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B9492-33C9-40BF-90F9-AABE9460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目标、难度与学习者标识</a:t>
            </a:r>
          </a:p>
        </p:txBody>
      </p:sp>
      <p:sp>
        <p:nvSpPr>
          <p:cNvPr id="16" name="step-2">
            <a:extLst xmlns:a="http://schemas.openxmlformats.org/drawingml/2006/main">
              <a:ext uri="{FF2B5EF4-FFF2-40B4-BE49-F238E27FC236}">
                <a16:creationId xmlns:a16="http://schemas.microsoft.com/office/drawing/2014/main" id="{16526024-CD4C-425B-9B6C-D409E55EE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BA8617-E9EE-4765-ADDA-D44ADBD77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C2158-6FD8-4881-9014-0B2FFBD4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171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标准化患者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FF6EAA-9911-4061-8BA0-DD45E703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600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YAML 病例与隐藏状态</a:t>
            </a:r>
          </a:p>
        </p:txBody>
      </p:sp>
      <p:sp>
        <p:nvSpPr>
          <p:cNvPr id="20" name="step-3">
            <a:extLst xmlns:a="http://schemas.openxmlformats.org/drawingml/2006/main">
              <a:ext uri="{FF2B5EF4-FFF2-40B4-BE49-F238E27FC236}">
                <a16:creationId xmlns:a16="http://schemas.microsoft.com/office/drawing/2014/main" id="{7C5641E5-D638-47FA-A754-77B776FF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62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3E6D5F-3EB3-4374-A2B8-4426C65B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85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5791D1-C067-475D-9320-3F03F703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71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问诊与工具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980260-F0A4-49B9-860C-F1BF22A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0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多轮病史、查体与检验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14592A9B-7D75-4E61-A2B4-F35BEB97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62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CBF4A-D021-459B-B8DB-F45C34B9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885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AE3B84-77E2-4C9E-88B2-568A85E0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71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临床决策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20072C-24E2-4BFD-BC7D-DEC2C925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0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鉴别诊断与处置计划</a:t>
            </a:r>
          </a:p>
        </p:txBody>
      </p:sp>
      <p:sp>
        <p:nvSpPr>
          <p:cNvPr id="28" name="step-8">
            <a:extLst xmlns:a="http://schemas.openxmlformats.org/drawingml/2006/main">
              <a:ext uri="{FF2B5EF4-FFF2-40B4-BE49-F238E27FC236}">
                <a16:creationId xmlns:a16="http://schemas.microsoft.com/office/drawing/2014/main" id="{2B8A752E-C880-45C6-9DEC-8CAFD5155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8C7FD6-166B-4DAA-AF71-DFB491C6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0FC21E-7A8D-44D0-A7BF-8DA91815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进步对比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27D9A2-DEF0-49C7-9839-BA2D0710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86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两轮维度、提示与时间</a:t>
            </a:r>
          </a:p>
        </p:txBody>
      </p:sp>
      <p:sp>
        <p:nvSpPr>
          <p:cNvPr id="32" name="step-7">
            <a:extLst xmlns:a="http://schemas.openxmlformats.org/drawingml/2006/main">
              <a:ext uri="{FF2B5EF4-FFF2-40B4-BE49-F238E27FC236}">
                <a16:creationId xmlns:a16="http://schemas.microsoft.com/office/drawing/2014/main" id="{D9815672-114C-4780-A3C5-378EE017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3E1782-F134-48B9-800D-C53E276E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171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A0404A-6611-4156-85E4-254D46D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457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个性化复训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35292E-1C40-4A7A-8237-8AB23E65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886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最低 1-3 维度生成任务</a:t>
            </a:r>
          </a:p>
        </p:txBody>
      </p:sp>
      <p:sp>
        <p:nvSpPr>
          <p:cNvPr id="36" name="step-6">
            <a:extLst xmlns:a="http://schemas.openxmlformats.org/drawingml/2006/main">
              <a:ext uri="{FF2B5EF4-FFF2-40B4-BE49-F238E27FC236}">
                <a16:creationId xmlns:a16="http://schemas.microsoft.com/office/drawing/2014/main" id="{6F228ADD-66A3-43B0-8C3D-03E62023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C41446-7958-45D6-BB03-5D19CE49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71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DA9D1A-025C-47E2-A62C-B8A99677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57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学情诊断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E49A024-500B-4A6F-BF17-EB692CBD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886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九维评分与可追溯证据</a:t>
            </a:r>
          </a:p>
        </p:txBody>
      </p:sp>
      <p:sp>
        <p:nvSpPr>
          <p:cNvPr id="40" name="step-5">
            <a:extLst xmlns:a="http://schemas.openxmlformats.org/drawingml/2006/main">
              <a:ext uri="{FF2B5EF4-FFF2-40B4-BE49-F238E27FC236}">
                <a16:creationId xmlns:a16="http://schemas.microsoft.com/office/drawing/2014/main" id="{0871E942-F6B1-4731-A6F0-46DFFD03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48125"/>
            <a:ext cx="25908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10074A-63FD-435E-B51D-73564410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171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50342CD-B031-4B9B-8BE2-24DB019C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457700"/>
            <a:ext cx="228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安全监督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67949D-8CB9-4BC9-83F5-47022595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86325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组合风险阻断与反思提示</a:t>
            </a:r>
          </a:p>
        </p:txBody>
      </p:sp>
    </p:spTree>
    <p:extLst>
      <p:ext uri="{BB962C8B-B14F-4D97-AF65-F5344CB8AC3E}">
        <p14:creationId xmlns:p14="http://schemas.microsoft.com/office/powerpoint/2010/main" val="16263276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C0D2DF4-3F18-42A4-8FB1-7CFC54F62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胸痛 Demo：危险回家计划被真实阻断</a:t>
            </a:r>
          </a:p>
        </p:txBody>
      </p:sp>
      <p:sp>
        <p:nvSpPr>
          <p:cNvPr id="2" name="slide-4-subtitle">
            <a:extLst xmlns:a="http://schemas.openxmlformats.org/drawingml/2006/main">
              <a:ext uri="{FF2B5EF4-FFF2-40B4-BE49-F238E27FC236}">
                <a16:creationId xmlns:a16="http://schemas.microsoft.com/office/drawing/2014/main" id="{3945A10A-79F0-4DF6-85DB-5BB81A8D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58 岁男性急性压榨性胸痛；隐藏信息仅在直接询问药物/兴奋剂后披露</a:t>
            </a:r>
          </a:p>
        </p:txBody>
      </p:sp>
      <p:sp>
        <p:nvSpPr>
          <p:cNvPr id="3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751844CD-5372-4FA4-869D-7F1D914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4D037912-5DBB-4312-BE0E-9AE415B8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66ED1-68E2-44FD-A99F-09FC0DD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E41BE-651F-4AA7-B631-BC6BE61E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问诊遗漏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6A4AC-BB36-4F36-A345-15999904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未完整覆盖药物使用与关键风险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BFF99E-100B-4B44-9F39-AF56ACC3A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1DF39-6B66-4CEE-BC60-A1CF871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证据不足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6566E8-2E36-45D3-8B0A-888C992C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高危胸痛未完成必要 ECG 复核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7340A-7A3B-4B0D-9201-51F35DFFC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F43B5-7CF1-457E-8DC9-5A52D9F8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危险处置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79A1C-817F-409A-962B-F69863AA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提交 discharge home to observe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C9BE6-A239-4D6D-837E-BF76FBB5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957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6BD22-E61A-4190-B4EA-4813954F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安全阻断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1395F-11E1-4B5C-BBB0-D774260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提示重新评估风险、检查和处置地点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F2D162-3814-4C10-8C7A-5C39FA3F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AFD44-1481-49D9-8CB7-CF5CA063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修正闭环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271A28-D853-4FA4-92D7-B58CB9A9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97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补充 ECG 与紧急监护/转诊后完成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992B0E-DC3A-4AD2-A680-8332EF2B7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5600700" cy="4410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1c6d862574004"/>
          <a:stretch xmlns:a="http://schemas.openxmlformats.org/drawingml/2006/main"/>
        </p:blipFill>
        <p:spPr>
          <a:xfrm xmlns:a="http://schemas.openxmlformats.org/drawingml/2006/main" flipH="0" flipV="0">
            <a:off x="6286500" y="2171915"/>
            <a:ext cx="5410200" cy="322854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902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0BB2E8C1-0458-4AF9-ADC1-BCA63F16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职责分离让 Agent 可控、可解释</a:t>
            </a:r>
          </a:p>
        </p:txBody>
      </p:sp>
      <p:sp>
        <p:nvSpPr>
          <p:cNvPr id="2" name="slide-5-subtitle">
            <a:extLst xmlns:a="http://schemas.openxmlformats.org/drawingml/2006/main">
              <a:ext uri="{FF2B5EF4-FFF2-40B4-BE49-F238E27FC236}">
                <a16:creationId xmlns:a16="http://schemas.microsoft.com/office/drawing/2014/main" id="{4EB63A9A-43C4-485E-8C3F-12D96D78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事实、规则、语言表达和持久化各有唯一责任边界</a:t>
            </a:r>
          </a:p>
        </p:txBody>
      </p:sp>
      <p:sp>
        <p:nvSpPr>
          <p:cNvPr id="3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C67FD6C1-D40E-4E79-8D80-DA994FC4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2CCFFA12-C49F-4BBA-BD6B-A23C3605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2724150" y="19431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1" name=""/>
          <p:cNvCxnSpPr/>
          <p:nvPr/>
        </p:nvCxnSpPr>
        <p:spPr>
          <a:xfrm xmlns:a="http://schemas.openxmlformats.org/drawingml/2006/main">
            <a:off x="2724150" y="27622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2" name=""/>
          <p:cNvCxnSpPr/>
          <p:nvPr/>
        </p:nvCxnSpPr>
        <p:spPr>
          <a:xfrm xmlns:a="http://schemas.openxmlformats.org/drawingml/2006/main">
            <a:off x="2724150" y="358140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3" name=""/>
          <p:cNvCxnSpPr/>
          <p:nvPr/>
        </p:nvCxnSpPr>
        <p:spPr>
          <a:xfrm xmlns:a="http://schemas.openxmlformats.org/drawingml/2006/main">
            <a:off x="2724150" y="44005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4" name=""/>
          <p:cNvCxnSpPr/>
          <p:nvPr/>
        </p:nvCxnSpPr>
        <p:spPr>
          <a:xfrm xmlns:a="http://schemas.openxmlformats.org/drawingml/2006/main">
            <a:off x="7905750" y="26289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65" name=""/>
          <p:cNvCxnSpPr/>
          <p:nvPr/>
        </p:nvCxnSpPr>
        <p:spPr>
          <a:xfrm xmlns:a="http://schemas.openxmlformats.org/drawingml/2006/main">
            <a:off x="7905750" y="3848100"/>
            <a:ext cx="781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763D5B-9D30-40FB-9723-1EE8E9DF6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A62ABB-2C1C-4835-B326-944C9A2E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752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Learning Planner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B0B08-6C86-4DFE-A63B-491B1B3B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0288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目标、历史弱项、Focused Retry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17B592-1599-4C78-B42B-7695E0CB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AEABD-BA9C-4C0B-B6E3-92BD95A6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571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Patient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97C3A8-8C4A-42CF-B388-BEE26B4E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479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只表达已授权的病例事实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943E67-4258-4627-9368-C81D1924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309E78-A25A-4185-B43D-B6F0E023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90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Clinical Skill Router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42629C-C181-428D-8E92-0806C807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6671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工具权限、阶段、时间与证据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F2D67-7222-4EDE-98B5-AAB16C4F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1480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8"/>
          </a:solidFill>
          <a:ln xmlns:a="http://schemas.openxmlformats.org/drawingml/2006/main" w="9525">
            <a:solidFill>
              <a:srgbClr val="A9323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2FF621-4E3B-4EAF-B38D-E103ECED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2100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Safety Supervisor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E41A27-AD43-4830-AE9A-4F482C5A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48627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组合风险、阻断与安全反馈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8ACA9A-1A6F-4687-A47E-3EEB65D0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D36B1-469A-4C10-BC07-2AA19883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029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Assessment &amp; Coaching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D6BC23-38B9-4591-A334-CD5B4ED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3054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九维学情诊断与复训建议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7D2045-89A8-4B12-8354-7E2BF38E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455295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D50F3D-8CB2-4CFF-B356-BAB60057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764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Python 状态机与确定性规则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B05686-1476-4BC4-A6D3-82BE0657F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39052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工具调用和检查解锁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Safety blocking combinations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Action Trace 与基础评分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Encounter State 与复训关联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LLM 仅负责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自然语言理解、患者表达、受限质性反馈；不能修改病例真相、检查结果、安全判定或最终基础分。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CEB706-3A91-4571-B142-DF76A477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3105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8A2FD7-21C0-4700-BD90-68DFB1F8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19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YAML Cases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C92D4E-C028-45DF-B711-2B56633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病例事实、隐藏规则、检查结果、教学 Rubric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78D7A8-FC8F-4C9C-822F-8752F75C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67100"/>
            <a:ext cx="31051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D722F-71AD-4EEE-976D-B25F9D4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SQLite + Trace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CDCE29-91AF-43A1-A2A5-E90AC7AC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529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会话状态、动作、证据、评分与两轮关联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5E0B4F-939B-4484-AE14-C46485CCA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57800"/>
            <a:ext cx="3105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Provider: Mock（无 API） | Gemini / Ollama（可选）</a:t>
            </a:r>
          </a:p>
        </p:txBody>
      </p:sp>
    </p:spTree>
    <p:extLst>
      <p:ext uri="{BB962C8B-B14F-4D97-AF65-F5344CB8AC3E}">
        <p14:creationId xmlns:p14="http://schemas.microsoft.com/office/powerpoint/2010/main" val="14441574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D550931A-F1A9-4885-B6E8-543B5E16F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复训围绕真实弱项，而不是随机再做一遍</a:t>
            </a:r>
          </a:p>
        </p:txBody>
      </p:sp>
      <p:sp>
        <p:nvSpPr>
          <p:cNvPr id="2" name="slide-6-subtitle">
            <a:extLst xmlns:a="http://schemas.openxmlformats.org/drawingml/2006/main">
              <a:ext uri="{FF2B5EF4-FFF2-40B4-BE49-F238E27FC236}">
                <a16:creationId xmlns:a16="http://schemas.microsoft.com/office/drawing/2014/main" id="{408FD776-5E22-49AF-8257-53343628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当前 Demo 个体表现对比；不能解释为真实教学效果证明</a:t>
            </a:r>
          </a:p>
        </p:txBody>
      </p:sp>
      <p:sp>
        <p:nvSpPr>
          <p:cNvPr id="3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3EF6F8BE-5C7F-4D06-B110-E89BD495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992CFD98-6229-472A-957C-6D64FEB7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00050" y="1543050"/>
          <a:ext xmlns:a="http://schemas.openxmlformats.org/drawingml/2006/main" cx="6667500" cy="4476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2b3ad6f32044c1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09D77-A157-494E-8EB1-76663714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002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E894CF-1282-4534-84E5-E7E2A99B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27D579-2157-41C9-B44D-04808EBB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765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第一次总分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96438F-528D-4FEA-A73E-DEEFAB5A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0020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E2231-6105-42C7-9BC9-68A821B17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1352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192523-8D4E-44F5-A587-F653E9132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第二次总分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69B39D-62BA-4B7C-9250-95E2853E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诊断到的弱项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C9C11B-2494-4DE2-8142-CECBC2F5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1809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病史采集 33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共情 58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沟通 62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A5D4B-1E23-4C21-8A4B-F800F8DF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自动复训计划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A31CE-56D0-407A-B10F-BE09F457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829050"/>
            <a:ext cx="190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聚焦胸痛史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直接询问药物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先共情再聚焦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Level 1 优先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03F8A-1791-463A-AB7E-95B0DC541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435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阻断类安全遗漏：0 -&gt; 0 | 病史 +67 | 红旗 +30 | 共情 +15</a:t>
            </a:r>
          </a:p>
        </p:txBody>
      </p:sp>
    </p:spTree>
    <p:extLst>
      <p:ext uri="{BB962C8B-B14F-4D97-AF65-F5344CB8AC3E}">
        <p14:creationId xmlns:p14="http://schemas.microsoft.com/office/powerpoint/2010/main" val="7557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8BC2C54B-57A6-461E-9A90-1B056855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临床技能通过工具完成，不靠模型编造</a:t>
            </a:r>
          </a:p>
        </p:txBody>
      </p:sp>
      <p:sp>
        <p:nvSpPr>
          <p:cNvPr id="2" name="slide-7-subtitle">
            <a:extLst xmlns:a="http://schemas.openxmlformats.org/drawingml/2006/main">
              <a:ext uri="{FF2B5EF4-FFF2-40B4-BE49-F238E27FC236}">
                <a16:creationId xmlns:a16="http://schemas.microsoft.com/office/drawing/2014/main" id="{A5F38218-53FA-4277-AE0D-7DB2F073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每次调用返回结构化结果、时间成本、解锁证据和安全事件</a:t>
            </a:r>
          </a:p>
        </p:txBody>
      </p:sp>
      <p:sp>
        <p:nvSpPr>
          <p:cNvPr id="3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CD527517-F304-448F-B002-02EC36E3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8127EF16-6298-4BF9-9973-086B26DD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D5292-D375-454B-89BC-4875692E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7FD52-8C58-42FA-BAD4-39896D84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193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生命体征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49254-E786-4889-B057-340FAC5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955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request_vital_signs()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D8D95C-B0EB-481B-AA7A-7C80178F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289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结果由 YAML 病例决定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AB75A-0040-4E04-8DDF-99FD5A98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809750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B5C029-752A-409A-9F8A-263DCE52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93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体格检查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AAE0D-9ACF-4532-8983-3215E4A7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955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perform_physical_exam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(system)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3BCD2C-F072-4369-8100-1D1384C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289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结果由 YAML 病例决定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E9B18-90C4-41F5-8FE7-1E56934A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2A5DE-C933-459C-8F4A-9547CE0E3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心电图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3003C-D0FD-4BC6-AB2A-0A30A23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955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order_ecg()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F2C13-689C-4E33-87C6-4205C94F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结果由 YAML 病例决定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4E7428-98D9-4363-AF9A-87C32AFD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D7F78A-24D1-4164-B871-569A8AC4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019300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实验室检查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EFF18E-7549-480D-A2BA-FA4B695C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495550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order_lab_test(name)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1EEBA6-CF3F-4FA2-8E34-DF0A3870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28950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结果由 YAML 病例决定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589C88-7453-4D50-8C59-F63D0304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48125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A25B6-26ED-4D3E-96B5-BAF811D8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576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鉴别诊断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6470A5-7D65-47B6-9398-4B961623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3392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submit_differential_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diagnosis(list)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2291A-4F71-41B0-95F3-04AA82C1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进入状态机与 Action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2A20E2-4288-4869-9997-8CB6E5AC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17C7A-32FE-41AC-A514-EF7A3B3F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576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处置计划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F63A41-408C-4D1A-BDF6-2F9C91CF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73392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submit_management_plan()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E6AD6C-89F1-4FA9-B51C-FF51B24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67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进入状态机与 Action Trace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9DF095-2A35-426D-805F-C933308C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48125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22E76-589C-4E4C-9F0A-AA5B6AF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分层提示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A4746E-1CB2-48CD-9A3E-AF86CA66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request_hint(level)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D1C489-4917-4302-B107-15EA2D22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267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进入状态机与 Action Trace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C97EB-2CCE-4B81-840D-8371326C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048125"/>
            <a:ext cx="2590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8"/>
          </a:solidFill>
          <a:ln xmlns:a="http://schemas.openxmlformats.org/drawingml/2006/main" w="9525">
            <a:solidFill>
              <a:srgbClr val="A9323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9DF8D-F85F-4391-BD58-4D4CC945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57675"/>
            <a:ext cx="224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安全完成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8FE1F6-88C1-4E9F-BF1B-B49099671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33925"/>
            <a:ext cx="2247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finish_encounter()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A2729F-C00B-4CD1-B86A-83B41110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67325"/>
            <a:ext cx="224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进入状态机与 Action Trace</a:t>
            </a:r>
          </a:p>
        </p:txBody>
      </p:sp>
    </p:spTree>
    <p:extLst>
      <p:ext uri="{BB962C8B-B14F-4D97-AF65-F5344CB8AC3E}">
        <p14:creationId xmlns:p14="http://schemas.microsoft.com/office/powerpoint/2010/main" val="863089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7918D6AD-CF16-44F6-BA67-1EBE033A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真实日志验证闭环，也暴露评分局限</a:t>
            </a:r>
          </a:p>
        </p:txBody>
      </p:sp>
      <p:sp>
        <p:nvSpPr>
          <p:cNvPr id="2" name="slide-8-subtitle">
            <a:extLst xmlns:a="http://schemas.openxmlformats.org/drawingml/2006/main">
              <a:ext uri="{FF2B5EF4-FFF2-40B4-BE49-F238E27FC236}">
                <a16:creationId xmlns:a16="http://schemas.microsoft.com/office/drawing/2014/main" id="{DDB1FB4A-5E8C-4B55-A50E-203422A4B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15 条作者定义的确定性软件场景；不是独立临床试验</a:t>
            </a:r>
          </a:p>
        </p:txBody>
      </p:sp>
      <p:sp>
        <p:nvSpPr>
          <p:cNvPr id="3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2A7A7F11-0182-4D28-9AB8-5CE18233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190F1368-4DBF-44D5-A34B-FC4BCB86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00050" y="158115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952750"/>
                <a:gridCol w="1619250"/>
                <a:gridCol w="1428750"/>
                <a:gridCol w="5391150"/>
              </a:tblGrid>
              <a:tr h="449036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验证项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计数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含义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任务闭环预期结果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15 / 15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含预期安全阻断场景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隐藏信息提前披露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 / 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负向与 injection 探针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危险出院阻断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 / 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高危组合不得完成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Prompt injection 抵抗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6 / 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未改写事实、评分或角色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无 API 完整闭环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 / 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socket 访问关闭</a:t>
                      </a:r>
                    </a:p>
                  </a:txBody>
                  <a:tcPr marL="91440" marR="91440" marT="45720" marB="45720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1350"/>
                        <a:t>Action Trace 完整性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152 / 152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预期服务动作均持久化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BB9CE4-EF57-465F-8D45-42141DF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8"/>
          </a:solidFill>
          <a:ln xmlns:a="http://schemas.openxmlformats.org/drawingml/2006/main" w="9525">
            <a:solidFill>
              <a:srgbClr val="A9323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A38727-C072-44A6-AC9B-01E46744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1093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失败案例：原 OSCE 自动评分总分 MAE 19.1，出现 3 个 false fail。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399388-4298-4953-B5A6-C378620D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93232"/>
                </a:solidFill>
                <a:latin typeface="Microsoft YaHei"/>
                <a:ea typeface="Microsoft YaHei"/>
                <a:cs typeface="Microsoft YaHei"/>
              </a:rPr>
              <a:t>missed-item detection accuracy 仅 0.432；当前评分只用于形成性反馈，不能用于高风险正式考试。</a:t>
            </a:r>
          </a:p>
        </p:txBody>
      </p:sp>
    </p:spTree>
    <p:extLst>
      <p:ext uri="{BB962C8B-B14F-4D97-AF65-F5344CB8AC3E}">
        <p14:creationId xmlns:p14="http://schemas.microsoft.com/office/powerpoint/2010/main" val="5845537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5C7B8BB9-DC3C-4605-B92E-FD26FC71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安全边界从数据层延伸到教学声明</a:t>
            </a:r>
          </a:p>
        </p:txBody>
      </p:sp>
      <p:sp>
        <p:nvSpPr>
          <p:cNvPr id="2" name="slide-9-subtitle">
            <a:extLst xmlns:a="http://schemas.openxmlformats.org/drawingml/2006/main">
              <a:ext uri="{FF2B5EF4-FFF2-40B4-BE49-F238E27FC236}">
                <a16:creationId xmlns:a16="http://schemas.microsoft.com/office/drawing/2014/main" id="{CCD4C59F-B6E0-42C2-8492-B2ACBB64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医学教育模拟与软件研究，不是诊疗系统或正式考试平台</a:t>
            </a:r>
          </a:p>
        </p:txBody>
      </p:sp>
      <p:sp>
        <p:nvSpPr>
          <p:cNvPr id="3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A9A4978A-A6B0-4148-BC35-14F7BE97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54D75CB-6317-495C-8172-9BDA4A88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4CC18-B33D-40A3-B7EF-A989BF67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数据与隐私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111EB2-27C4-41E2-92ED-B91AEBD25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24100"/>
            <a:ext cx="52387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教育用途结构化合成/教学病例模板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当前主 Demo 不使用真实患者数据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learner payload 与教师隐藏状态隔离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普通日志抑制隐藏原文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SQLite 本地保存，公开云端不承诺持久化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7E396-1A1A-4470-BA30-D6793C19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合规与证据边界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5BE24B-E7B9-46A3-A1AB-8EA8D2F5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不用于真实诊断、治疗或医疗建议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不替代教师、临床专家或 OSCE 考官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不用于高风险正式考核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页面明示 Mock / Gemini / Ollama Provider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模型与自动评分限制写入报告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- MIT License 开放复用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1EBE95-AF80-44F7-987B-9B608D58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0190C0-65DF-4EE1-B96A-0178B7E6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70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公开 Demo 必须使用 learner 角色；APP_ROLE=instructor 仅作受控本地演示，不等同于认证。</a:t>
            </a:r>
          </a:p>
        </p:txBody>
      </p:sp>
    </p:spTree>
    <p:extLst>
      <p:ext uri="{BB962C8B-B14F-4D97-AF65-F5344CB8AC3E}">
        <p14:creationId xmlns:p14="http://schemas.microsoft.com/office/powerpoint/2010/main" val="1500047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5DB52841-4D04-4CC4-861D-4F46A682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048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7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开放模板已经可用，临床验证仍在未来</a:t>
            </a:r>
          </a:p>
        </p:txBody>
      </p:sp>
      <p:sp>
        <p:nvSpPr>
          <p:cNvPr id="2" name="slide-10-subtitle">
            <a:extLst xmlns:a="http://schemas.openxmlformats.org/drawingml/2006/main">
              <a:ext uri="{FF2B5EF4-FFF2-40B4-BE49-F238E27FC236}">
                <a16:creationId xmlns:a16="http://schemas.microsoft.com/office/drawing/2014/main" id="{1DAA5095-B1FD-4D94-BE60-7DA965585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94297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已完成与未来计划严格分开</a:t>
            </a:r>
          </a:p>
        </p:txBody>
      </p:sp>
      <p:sp>
        <p:nvSpPr>
          <p:cNvPr id="3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37A12B63-595E-4A7E-A778-1D72AEA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04925"/>
            <a:ext cx="11410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1A8483D0-5889-44D4-BCA0-0D8097A2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84472-103A-4CA3-8D01-AEC165E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现在可复用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BF1DC-A836-4AF5-8718-52036199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5238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YAML 病例 Schema 与 Validator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Clinical Skill 工具接口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Safety Rule 模板与 Action Trace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MockProvider 无 API Demo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15 条评测轨迹与部署文档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教师病例编写指南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89A11-4B0E-41D7-B491-C3338948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未来路线图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72EEA-AA7F-4514-BCD4-AD189693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5238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临床专家标注与多轮内容审核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更多专科、难度与病例变体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真实学生可用性和学习过程研究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生产级教师审核、认证与隐私流程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语音问诊和多模态查体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B8F1D2-C9B0-4B26-850A-EBA68638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76875"/>
            <a:ext cx="11125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CD7112-72E5-4D37-913D-E6B28FB4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下一步：用专家审核与真实学习者研究，把“可运行 Demo”推进为可验证的医学教育产品。</a:t>
            </a:r>
          </a:p>
        </p:txBody>
      </p:sp>
    </p:spTree>
    <p:extLst>
      <p:ext uri="{BB962C8B-B14F-4D97-AF65-F5344CB8AC3E}">
        <p14:creationId xmlns:p14="http://schemas.microsoft.com/office/powerpoint/2010/main" val="10116491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2026-08-05T13:58:08.7060000Z</dcterms:created>
  <dcterms:modified xsi:type="dcterms:W3CDTF">2026-08-05T13:58:08.7060000Z</dcterms:modified>
</coreProperties>
</file>